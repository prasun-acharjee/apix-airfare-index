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Problem Statement ID, Theme, Team ID and Team Name must be copied from the SIH portal registration before upload.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APIx turns a monthly, manual CPI item into a daily automated one, without ever circumventing a site's access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gated network call is the only outbound request in the codebase, which is what makes the compliance guarantee checkable rather than aspirational.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mitigation on this slide is code that exists, not a plan: the publication guard, the refusal/timeout split and the donor hierarchy are all pinned by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benefit that matters most is admissibility: an index that underpins policy cannot rest on data obtained by circumventing access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reference that most shaped the build is RFC 9309: implementing it properly is what showed that six of nine candidate sources do not permit fare-path collection.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pix-airfare-index/presentation/assets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0384" y="109728"/>
            <a:ext cx="1874520" cy="88513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01168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INDIA HACKATHON 2026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41248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 PAGE</a:t>
            </a:r>
            <a:endParaRPr lang="en-US" sz="2400" dirty="0"/>
          </a:p>
        </p:txBody>
      </p:sp>
      <p:pic>
        <p:nvPicPr>
          <p:cNvPr id="5" name="Image 1" descr="/home/user/apix-airfare-index/presentation/assets/brain_onl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4272" y="1280160"/>
            <a:ext cx="1737360" cy="20665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75488" y="1536192"/>
            <a:ext cx="82296" cy="82296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76656" y="1444752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 –  </a:t>
            </a:r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&lt;fill from SIH portal&gt;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75488" y="2048256"/>
            <a:ext cx="82296" cy="82296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76656" y="1956816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Title-  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Airfare Price Index for the CPI Transport &amp; Communication sub-group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75488" y="2724912"/>
            <a:ext cx="82296" cy="82296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76656" y="2633472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Theme-  </a:t>
            </a:r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&lt;fill from SIH portal&gt;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75488" y="3236976"/>
            <a:ext cx="82296" cy="82296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76656" y="3145536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Category-  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75488" y="3749040"/>
            <a:ext cx="82296" cy="82296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76656" y="3657600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ID-  </a:t>
            </a:r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&lt;fill from SIH portal&gt;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75488" y="4261104"/>
            <a:ext cx="82296" cy="82296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76656" y="4169664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(Registered on portal)-  </a:t>
            </a:r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&lt;fill from SIH portal&gt;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57200" y="4846320"/>
            <a:ext cx="6675120" cy="1261872"/>
          </a:xfrm>
          <a:prstGeom prst="roundRect">
            <a:avLst>
              <a:gd name="adj" fmla="val 4348"/>
            </a:avLst>
          </a:prstGeom>
          <a:solidFill>
            <a:srgbClr val="FDF1EA"/>
          </a:solidFill>
          <a:ln w="9525">
            <a:solidFill>
              <a:srgbClr val="F0C9B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40080" y="4956048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PROTOTYPE ALREADY DOES, EVERY NIGHT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40080" y="5212080"/>
            <a:ext cx="9296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F0C9B2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40080" y="5212080"/>
            <a:ext cx="929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robots.txt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1597152" y="5312664"/>
            <a:ext cx="91440" cy="109728"/>
          </a:xfrm>
          <a:prstGeom prst="rightArrow">
            <a:avLst/>
          </a:prstGeom>
          <a:solidFill>
            <a:srgbClr val="E0B79E"/>
          </a:solidFill>
          <a:ln w="12700">
            <a:solidFill>
              <a:srgbClr val="E0B79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716024" y="5212080"/>
            <a:ext cx="9296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F0C9B2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1716024" y="5212080"/>
            <a:ext cx="929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2673096" y="5312664"/>
            <a:ext cx="91440" cy="109728"/>
          </a:xfrm>
          <a:prstGeom prst="rightArrow">
            <a:avLst/>
          </a:prstGeom>
          <a:solidFill>
            <a:srgbClr val="E0B79E"/>
          </a:solidFill>
          <a:ln w="12700">
            <a:solidFill>
              <a:srgbClr val="E0B79E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2791968" y="5212080"/>
            <a:ext cx="9296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F0C9B2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2791968" y="5212080"/>
            <a:ext cx="929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3749040" y="5312664"/>
            <a:ext cx="91440" cy="109728"/>
          </a:xfrm>
          <a:prstGeom prst="rightArrow">
            <a:avLst/>
          </a:prstGeom>
          <a:solidFill>
            <a:srgbClr val="E0B79E"/>
          </a:solidFill>
          <a:ln w="12700">
            <a:solidFill>
              <a:srgbClr val="E0B79E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3867912" y="5212080"/>
            <a:ext cx="9296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F0C9B2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3867912" y="5212080"/>
            <a:ext cx="929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mean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4824984" y="5312664"/>
            <a:ext cx="91440" cy="109728"/>
          </a:xfrm>
          <a:prstGeom prst="rightArrow">
            <a:avLst/>
          </a:prstGeom>
          <a:solidFill>
            <a:srgbClr val="E0B79E"/>
          </a:solidFill>
          <a:ln w="12700">
            <a:solidFill>
              <a:srgbClr val="E0B79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943856" y="5212080"/>
            <a:ext cx="9296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F0C9B2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4943856" y="5212080"/>
            <a:ext cx="929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5900928" y="5312664"/>
            <a:ext cx="91440" cy="109728"/>
          </a:xfrm>
          <a:prstGeom prst="rightArrow">
            <a:avLst/>
          </a:prstGeom>
          <a:solidFill>
            <a:srgbClr val="E0B79E"/>
          </a:solidFill>
          <a:ln w="12700">
            <a:solidFill>
              <a:srgbClr val="E0B79E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019800" y="5212080"/>
            <a:ext cx="9296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F0C9B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019800" y="5212080"/>
            <a:ext cx="929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950" dirty="0"/>
          </a:p>
        </p:txBody>
      </p:sp>
      <p:sp>
        <p:nvSpPr>
          <p:cNvPr id="37" name="Text 33"/>
          <p:cNvSpPr txBox="1"/>
          <p:nvPr/>
        </p:nvSpPr>
        <p:spPr>
          <a:xfrm>
            <a:off x="640080" y="5614416"/>
            <a:ext cx="6309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block, a 403 or a CAPTCHA is recorded as non-response and imputed — never evaded. Every point published with its coverage, imputation share and quality flag.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8074152" y="3602736"/>
            <a:ext cx="3657600" cy="2505456"/>
          </a:xfrm>
          <a:prstGeom prst="roundRect">
            <a:avLst>
              <a:gd name="adj" fmla="val 2190"/>
            </a:avLst>
          </a:prstGeom>
          <a:solidFill>
            <a:srgbClr val="EEF4FB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8275320" y="37307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APIx</a:t>
            </a:r>
            <a:endParaRPr lang="en-US" sz="2800" dirty="0"/>
          </a:p>
        </p:txBody>
      </p:sp>
      <p:sp>
        <p:nvSpPr>
          <p:cNvPr id="40" name="Text 36"/>
          <p:cNvSpPr txBox="1"/>
          <p:nvPr/>
        </p:nvSpPr>
        <p:spPr>
          <a:xfrm>
            <a:off x="8275320" y="4224528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compliant, daily-frequency airfare price index — collected only where robots.txt permits, chained from geometric-mean cell prices, and published with its own coverage and quality on every point.</a:t>
            </a:r>
            <a:endParaRPr lang="en-US" sz="1050" dirty="0"/>
          </a:p>
        </p:txBody>
      </p:sp>
      <p:sp>
        <p:nvSpPr>
          <p:cNvPr id="41" name="Text 37"/>
          <p:cNvSpPr txBox="1"/>
          <p:nvPr/>
        </p:nvSpPr>
        <p:spPr>
          <a:xfrm>
            <a:off x="8275320" y="53218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65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975</a:t>
            </a:r>
            <a:endParaRPr lang="en-US" sz="1800" dirty="0"/>
          </a:p>
        </p:txBody>
      </p:sp>
      <p:sp>
        <p:nvSpPr>
          <p:cNvPr id="42" name="Text 38"/>
          <p:cNvSpPr txBox="1"/>
          <p:nvPr/>
        </p:nvSpPr>
        <p:spPr>
          <a:xfrm>
            <a:off x="8275320" y="56327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cells</a:t>
            </a:r>
            <a:endParaRPr lang="en-US" sz="850" dirty="0"/>
          </a:p>
        </p:txBody>
      </p:sp>
      <p:sp>
        <p:nvSpPr>
          <p:cNvPr id="43" name="Text 39"/>
          <p:cNvSpPr txBox="1"/>
          <p:nvPr/>
        </p:nvSpPr>
        <p:spPr>
          <a:xfrm>
            <a:off x="9390888" y="53218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65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100.0</a:t>
            </a:r>
            <a:endParaRPr lang="en-US" sz="1800" dirty="0"/>
          </a:p>
        </p:txBody>
      </p:sp>
      <p:sp>
        <p:nvSpPr>
          <p:cNvPr id="44" name="Text 40"/>
          <p:cNvSpPr txBox="1"/>
          <p:nvPr/>
        </p:nvSpPr>
        <p:spPr>
          <a:xfrm>
            <a:off x="9390888" y="56327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01-Apr-26</a:t>
            </a:r>
            <a:endParaRPr lang="en-US" sz="850" dirty="0"/>
          </a:p>
        </p:txBody>
      </p:sp>
      <p:sp>
        <p:nvSpPr>
          <p:cNvPr id="45" name="Text 41"/>
          <p:cNvSpPr txBox="1"/>
          <p:nvPr/>
        </p:nvSpPr>
        <p:spPr>
          <a:xfrm>
            <a:off x="10506456" y="53218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65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1800" dirty="0"/>
          </a:p>
        </p:txBody>
      </p:sp>
      <p:sp>
        <p:nvSpPr>
          <p:cNvPr id="46" name="Text 42"/>
          <p:cNvSpPr txBox="1"/>
          <p:nvPr/>
        </p:nvSpPr>
        <p:spPr>
          <a:xfrm>
            <a:off x="10506456" y="56327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pix-airfare-index/presentation/assets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0384" y="109728"/>
            <a:ext cx="1874520" cy="88513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9184" y="182880"/>
            <a:ext cx="1298448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6BA8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9184" y="18288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&lt;Team Name&gt;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783080" y="237744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TITLE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3459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783080" y="859536"/>
            <a:ext cx="8001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APIx — Real-time Airfare Price Index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298448"/>
            <a:ext cx="11277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(Describe your Idea/Solution/Prototype)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7200" y="1700784"/>
            <a:ext cx="8275320" cy="1591056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" y="1810512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9536" y="1773936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explanation of the proposed solution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59536" y="2048256"/>
            <a:ext cx="767181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public domestic fares daily from airline and OTA sites — only where robots.txt permits — rendering JS pages in a real Chromium browser at a 5-second crawl delay.</a:t>
            </a:r>
            <a:endParaRPr lang="en-US" sz="950" dirty="0"/>
          </a:p>
          <a:p>
            <a:pPr marL="342900" indent="-3429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every quote to the all-in fare a household pays: base + GST + UDF/PSF/ASF + mandatory surcharges. Optional seats, bags and meals are excluded.</a:t>
            </a:r>
            <a:endParaRPr lang="en-US" sz="950" dirty="0"/>
          </a:p>
          <a:p>
            <a:pPr marL="342900" indent="-3429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item is a cell = source × route × carrier × advance-purchase window × cabin — a basket of 975 cells (15 city pairs × 6 carriers × 5 booking windows × Economy).</a:t>
            </a:r>
            <a:endParaRPr lang="en-US" sz="950" dirty="0"/>
          </a:p>
          <a:p>
            <a:pPr marL="342900" indent="-3429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collapse to one geometric-mean price a day and chain into a weighted index anchored at 100.0 on 01-Apr-2026, published as daily / weekly / monthly series with a JSON API.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" y="3383280"/>
            <a:ext cx="8275320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5216" y="349300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9536" y="3456432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addresses the problem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859536" y="3730752"/>
            <a:ext cx="76718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air-fare collection is monthly and manual, while a fare can change several times a day — APIx makes that item observable daily, automatically.</a:t>
            </a:r>
            <a:endParaRPr lang="en-US" sz="950" dirty="0"/>
          </a:p>
          <a:p>
            <a:pPr marL="342900" indent="-3429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published point carries coverage, imputation share and a quality flag, so a reader sees how much of the basket was really observed.</a:t>
            </a:r>
            <a:endParaRPr lang="en-US" sz="950" dirty="0"/>
          </a:p>
          <a:p>
            <a:pPr marL="342900" indent="-3429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quote archive is append-only, so the whole series is recomputable and independently replicable.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7200" y="4608576"/>
            <a:ext cx="8275320" cy="1591056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5216" y="4718304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59536" y="4681728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and uniqueness of the solution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859536" y="4956048"/>
            <a:ext cx="767181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sits inside the item identity — when a site goes dark, coverage falls but no fake price movement enters the index.</a:t>
            </a:r>
            <a:endParaRPr lang="en-US" sz="950" dirty="0"/>
          </a:p>
          <a:p>
            <a:pPr marL="342900" indent="-3429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Ethically designed for real: a 403, a CAPTCHA or a bot challenge is recorded as non-response and never evaded — a unit test fails the build if evasion machinery is added. That is what keeps the number admissible as official statistics.</a:t>
            </a:r>
            <a:endParaRPr lang="en-US" sz="950" dirty="0"/>
          </a:p>
          <a:p>
            <a:pPr marL="342900" indent="-3429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RFC 9309 robots.txt parser: Python's stdlib parser ignores wildcards and fails permissive — it would have claimed permission we do not have.</a:t>
            </a:r>
            <a:endParaRPr lang="en-US" sz="950" dirty="0"/>
          </a:p>
          <a:p>
            <a:pPr marL="342900" indent="-3429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refuses to publish a point it cannot stand behind (exit code 4) instead of quietly freezing the site behind a green build.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988552" y="1700784"/>
            <a:ext cx="2745943" cy="4517136"/>
          </a:xfrm>
          <a:prstGeom prst="roundRect">
            <a:avLst>
              <a:gd name="adj" fmla="val 1998"/>
            </a:avLst>
          </a:prstGeom>
          <a:solidFill>
            <a:srgbClr val="EEF4FB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189720" y="1847088"/>
            <a:ext cx="23436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STATUS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9189720" y="2084832"/>
            <a:ext cx="23436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end to end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9189720" y="2487168"/>
            <a:ext cx="23436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65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975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9189720" y="2871216"/>
            <a:ext cx="23436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in the basket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9189720" y="3328416"/>
            <a:ext cx="23436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of 9</a:t>
            </a:r>
            <a:endParaRPr lang="en-US" sz="2400" dirty="0"/>
          </a:p>
        </p:txBody>
      </p:sp>
      <p:sp>
        <p:nvSpPr>
          <p:cNvPr id="29" name="Text 26"/>
          <p:cNvSpPr txBox="1"/>
          <p:nvPr/>
        </p:nvSpPr>
        <p:spPr>
          <a:xfrm>
            <a:off x="9189720" y="3712464"/>
            <a:ext cx="23436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permit collection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9189720" y="4169664"/>
            <a:ext cx="23436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2400" dirty="0"/>
          </a:p>
        </p:txBody>
      </p:sp>
      <p:sp>
        <p:nvSpPr>
          <p:cNvPr id="31" name="Text 28"/>
          <p:cNvSpPr txBox="1"/>
          <p:nvPr/>
        </p:nvSpPr>
        <p:spPr>
          <a:xfrm>
            <a:off x="9189720" y="4553712"/>
            <a:ext cx="23436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~12 s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9189720" y="5010912"/>
            <a:ext cx="23436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65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0.05%</a:t>
            </a:r>
            <a:endParaRPr lang="en-US" sz="2400" dirty="0"/>
          </a:p>
        </p:txBody>
      </p:sp>
      <p:sp>
        <p:nvSpPr>
          <p:cNvPr id="33" name="Text 30"/>
          <p:cNvSpPr txBox="1"/>
          <p:nvPr/>
        </p:nvSpPr>
        <p:spPr>
          <a:xfrm>
            <a:off x="9189720" y="5394960"/>
            <a:ext cx="23436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error vs. known truth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9189720" y="5779008"/>
            <a:ext cx="23436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on a 90-day stream with known drift, a +12% shock and 6% non-response.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pix-airfare-index/presentation/assets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0384" y="109728"/>
            <a:ext cx="1874520" cy="88513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9184" y="182880"/>
            <a:ext cx="1298448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6BA8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9184" y="18288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&lt;Team Name&gt;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783080" y="237744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3459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298448"/>
            <a:ext cx="11277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to be used (e.g. programming languages, frameworks, hardware)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1645920"/>
            <a:ext cx="2737028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" y="1719072"/>
            <a:ext cx="2480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&amp; INDEX ENGINE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85216" y="1956816"/>
            <a:ext cx="24809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 ·  Playwright / Chromium  ·  PyYAML  ·  pytest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303956" y="1645920"/>
            <a:ext cx="2737028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31972" y="1719072"/>
            <a:ext cx="2480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431972" y="1956816"/>
            <a:ext cx="24809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(Neon)  ·  psycopg 3  ·  SQL migrations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150712" y="1645920"/>
            <a:ext cx="2737028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78728" y="1719072"/>
            <a:ext cx="2480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278728" y="1956816"/>
            <a:ext cx="24809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 ·  React 19  ·  TypeScript strict  ·  Tailwind 4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997467" y="1645920"/>
            <a:ext cx="2737028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25483" y="1719072"/>
            <a:ext cx="2480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7C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125483" y="1956816"/>
            <a:ext cx="24809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02:30 UTC  ·  Vercel  ·  FastAPI (local)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2798064"/>
            <a:ext cx="11277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and process for implementation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57200" y="3145536"/>
            <a:ext cx="2036003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8640" y="3236976"/>
            <a:ext cx="237744" cy="23774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32369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841248" y="3227832"/>
            <a:ext cx="15605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66928" y="3511296"/>
            <a:ext cx="181654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975 cells from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config/basket.yaml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2543495" y="3525012"/>
            <a:ext cx="173736" cy="137160"/>
          </a:xfrm>
          <a:prstGeom prst="rightArrow">
            <a:avLst/>
          </a:prstGeom>
          <a:solidFill>
            <a:srgbClr val="C8D6E5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767523" y="3145536"/>
            <a:ext cx="2036003" cy="896112"/>
          </a:xfrm>
          <a:prstGeom prst="roundRect">
            <a:avLst>
              <a:gd name="adj" fmla="val 6122"/>
            </a:avLst>
          </a:prstGeom>
          <a:solidFill>
            <a:srgbClr val="EEF4FB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858963" y="3236976"/>
            <a:ext cx="237744" cy="23774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858963" y="32369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3151571" y="3227832"/>
            <a:ext cx="15605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robots.txt gate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2877251" y="3511296"/>
            <a:ext cx="181654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9309 parser,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closed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853818" y="3525012"/>
            <a:ext cx="173736" cy="137160"/>
          </a:xfrm>
          <a:prstGeom prst="rightArrow">
            <a:avLst/>
          </a:prstGeom>
          <a:solidFill>
            <a:srgbClr val="C8D6E5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077846" y="3145536"/>
            <a:ext cx="2036003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169286" y="3236976"/>
            <a:ext cx="237744" cy="23774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169286" y="32369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61894" y="3227832"/>
            <a:ext cx="15605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5187574" y="3511296"/>
            <a:ext cx="181654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Chromium renders JS,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 crawl delay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7164141" y="3525012"/>
            <a:ext cx="173736" cy="137160"/>
          </a:xfrm>
          <a:prstGeom prst="rightArrow">
            <a:avLst/>
          </a:prstGeom>
          <a:solidFill>
            <a:srgbClr val="C8D6E5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388169" y="3145536"/>
            <a:ext cx="2036003" cy="896112"/>
          </a:xfrm>
          <a:prstGeom prst="roundRect">
            <a:avLst>
              <a:gd name="adj" fmla="val 6122"/>
            </a:avLst>
          </a:prstGeom>
          <a:solidFill>
            <a:srgbClr val="EEF4FB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479609" y="3236976"/>
            <a:ext cx="237744" cy="23774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479609" y="32369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7772217" y="3227832"/>
            <a:ext cx="15605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497897" y="3511296"/>
            <a:ext cx="181654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adapter per site;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 = non-response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9474464" y="3525012"/>
            <a:ext cx="173736" cy="137160"/>
          </a:xfrm>
          <a:prstGeom prst="rightArrow">
            <a:avLst/>
          </a:prstGeom>
          <a:solidFill>
            <a:srgbClr val="C8D6E5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9698492" y="3145536"/>
            <a:ext cx="2036003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9789932" y="3236976"/>
            <a:ext cx="237744" cy="23774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89932" y="32369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10082540" y="3227832"/>
            <a:ext cx="15605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raw_quote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9808220" y="3511296"/>
            <a:ext cx="181654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archive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Postgres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457200" y="4224528"/>
            <a:ext cx="2036003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48640" y="4315968"/>
            <a:ext cx="237744" cy="23774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48640" y="43159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5" name="Text 52"/>
          <p:cNvSpPr txBox="1"/>
          <p:nvPr/>
        </p:nvSpPr>
        <p:spPr>
          <a:xfrm>
            <a:off x="841248" y="4306824"/>
            <a:ext cx="15605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566928" y="4590288"/>
            <a:ext cx="181654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 fare, currency,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family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2543495" y="4604004"/>
            <a:ext cx="173736" cy="137160"/>
          </a:xfrm>
          <a:prstGeom prst="rightArrow">
            <a:avLst/>
          </a:prstGeom>
          <a:solidFill>
            <a:srgbClr val="C8D6E5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767523" y="4224528"/>
            <a:ext cx="2036003" cy="896112"/>
          </a:xfrm>
          <a:prstGeom prst="roundRect">
            <a:avLst>
              <a:gd name="adj" fmla="val 6122"/>
            </a:avLst>
          </a:prstGeom>
          <a:solidFill>
            <a:srgbClr val="EEF4FB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2858963" y="4315968"/>
            <a:ext cx="237744" cy="23774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2858963" y="43159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3151571" y="4306824"/>
            <a:ext cx="15605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1100" dirty="0"/>
          </a:p>
        </p:txBody>
      </p:sp>
      <p:sp>
        <p:nvSpPr>
          <p:cNvPr id="62" name="Text 59"/>
          <p:cNvSpPr txBox="1"/>
          <p:nvPr/>
        </p:nvSpPr>
        <p:spPr>
          <a:xfrm>
            <a:off x="2877251" y="4590288"/>
            <a:ext cx="181654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checks + MAD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on log fares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4853818" y="4604004"/>
            <a:ext cx="173736" cy="137160"/>
          </a:xfrm>
          <a:prstGeom prst="rightArrow">
            <a:avLst/>
          </a:prstGeom>
          <a:solidFill>
            <a:srgbClr val="C8D6E5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5077846" y="4224528"/>
            <a:ext cx="2036003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5169286" y="4315968"/>
            <a:ext cx="237744" cy="23774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5169286" y="43159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67" name="Text 64"/>
          <p:cNvSpPr txBox="1"/>
          <p:nvPr/>
        </p:nvSpPr>
        <p:spPr>
          <a:xfrm>
            <a:off x="5461894" y="4306824"/>
            <a:ext cx="15605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price</a:t>
            </a:r>
            <a:endParaRPr lang="en-US" sz="1100" dirty="0"/>
          </a:p>
        </p:txBody>
      </p:sp>
      <p:sp>
        <p:nvSpPr>
          <p:cNvPr id="68" name="Text 65"/>
          <p:cNvSpPr txBox="1"/>
          <p:nvPr/>
        </p:nvSpPr>
        <p:spPr>
          <a:xfrm>
            <a:off x="5187574" y="4590288"/>
            <a:ext cx="181654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mean per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per day</a:t>
            </a:r>
            <a:endParaRPr lang="en-US" sz="850" dirty="0"/>
          </a:p>
        </p:txBody>
      </p:sp>
      <p:sp>
        <p:nvSpPr>
          <p:cNvPr id="69" name="Shape 66"/>
          <p:cNvSpPr/>
          <p:nvPr/>
        </p:nvSpPr>
        <p:spPr>
          <a:xfrm>
            <a:off x="7164141" y="4604004"/>
            <a:ext cx="173736" cy="137160"/>
          </a:xfrm>
          <a:prstGeom prst="rightArrow">
            <a:avLst/>
          </a:prstGeom>
          <a:solidFill>
            <a:srgbClr val="C8D6E5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7388169" y="4224528"/>
            <a:ext cx="2036003" cy="896112"/>
          </a:xfrm>
          <a:prstGeom prst="roundRect">
            <a:avLst>
              <a:gd name="adj" fmla="val 6122"/>
            </a:avLst>
          </a:prstGeom>
          <a:solidFill>
            <a:srgbClr val="EEF4FB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7479609" y="4315968"/>
            <a:ext cx="237744" cy="237744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7479609" y="43159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73" name="Text 70"/>
          <p:cNvSpPr txBox="1"/>
          <p:nvPr/>
        </p:nvSpPr>
        <p:spPr>
          <a:xfrm>
            <a:off x="7772217" y="4306824"/>
            <a:ext cx="15605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&amp; chain</a:t>
            </a:r>
            <a:endParaRPr lang="en-US" sz="1100" dirty="0"/>
          </a:p>
        </p:txBody>
      </p:sp>
      <p:sp>
        <p:nvSpPr>
          <p:cNvPr id="74" name="Text 71"/>
          <p:cNvSpPr txBox="1"/>
          <p:nvPr/>
        </p:nvSpPr>
        <p:spPr>
          <a:xfrm>
            <a:off x="7497897" y="4590288"/>
            <a:ext cx="181654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→ route → all-items;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I(t) = I(t−1) × R(t)</a:t>
            </a:r>
            <a:endParaRPr lang="en-US" sz="850" dirty="0"/>
          </a:p>
        </p:txBody>
      </p:sp>
      <p:sp>
        <p:nvSpPr>
          <p:cNvPr id="75" name="Shape 72"/>
          <p:cNvSpPr/>
          <p:nvPr/>
        </p:nvSpPr>
        <p:spPr>
          <a:xfrm>
            <a:off x="9474464" y="4604004"/>
            <a:ext cx="173736" cy="137160"/>
          </a:xfrm>
          <a:prstGeom prst="rightArrow">
            <a:avLst/>
          </a:prstGeom>
          <a:solidFill>
            <a:srgbClr val="C8D6E5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9698492" y="4224528"/>
            <a:ext cx="2036003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9789932" y="4315968"/>
            <a:ext cx="237744" cy="23774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9789932" y="43159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79" name="Text 76"/>
          <p:cNvSpPr txBox="1"/>
          <p:nvPr/>
        </p:nvSpPr>
        <p:spPr>
          <a:xfrm>
            <a:off x="10082540" y="4306824"/>
            <a:ext cx="15605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100" dirty="0"/>
          </a:p>
        </p:txBody>
      </p:sp>
      <p:sp>
        <p:nvSpPr>
          <p:cNvPr id="80" name="Text 77"/>
          <p:cNvSpPr txBox="1"/>
          <p:nvPr/>
        </p:nvSpPr>
        <p:spPr>
          <a:xfrm>
            <a:off x="9808220" y="4590288"/>
            <a:ext cx="181654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index_point → dashboard,</a:t>
            </a:r>
            <a:endParaRPr lang="en-US" sz="8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/api/index, /api/inflation</a:t>
            </a:r>
            <a:endParaRPr lang="en-US" sz="850" dirty="0"/>
          </a:p>
        </p:txBody>
      </p:sp>
      <p:sp>
        <p:nvSpPr>
          <p:cNvPr id="81" name="Shape 78"/>
          <p:cNvSpPr/>
          <p:nvPr/>
        </p:nvSpPr>
        <p:spPr>
          <a:xfrm>
            <a:off x="457200" y="5285232"/>
            <a:ext cx="6675120" cy="932688"/>
          </a:xfrm>
          <a:prstGeom prst="roundRect">
            <a:avLst>
              <a:gd name="adj" fmla="val 5882"/>
            </a:avLst>
          </a:prstGeom>
          <a:solidFill>
            <a:srgbClr val="FDF1EA"/>
          </a:solidFill>
          <a:ln w="9525">
            <a:solidFill>
              <a:srgbClr val="F0C9B2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621792" y="5358384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Chained weighted geometric (Young) index</a:t>
            </a:r>
            <a:endParaRPr lang="en-US" sz="950" dirty="0"/>
          </a:p>
        </p:txBody>
      </p:sp>
      <p:sp>
        <p:nvSpPr>
          <p:cNvPr id="83" name="Text 80"/>
          <p:cNvSpPr txBox="1"/>
          <p:nvPr/>
        </p:nvSpPr>
        <p:spPr>
          <a:xfrm>
            <a:off x="621792" y="55778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R(t) = exp( Σc  w̃c · ln[ p(c,t) / p(c,t−1) ] )        I(t) = I(t−1) × R(t)</a:t>
            </a:r>
            <a:endParaRPr lang="en-US" sz="1300" dirty="0"/>
          </a:p>
        </p:txBody>
      </p:sp>
      <p:sp>
        <p:nvSpPr>
          <p:cNvPr id="84" name="Text 81"/>
          <p:cNvSpPr txBox="1"/>
          <p:nvPr/>
        </p:nvSpPr>
        <p:spPr>
          <a:xfrm>
            <a:off x="621792" y="587044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runs over cells seen in both periods; w̃ is the basket weight renormalised over that matched set. The monthly figure is a direct month-over-month comparison, not a product of 30 daily links.</a:t>
            </a:r>
            <a:endParaRPr lang="en-US" sz="850" dirty="0"/>
          </a:p>
        </p:txBody>
      </p:sp>
      <p:sp>
        <p:nvSpPr>
          <p:cNvPr id="85" name="Shape 82"/>
          <p:cNvSpPr/>
          <p:nvPr/>
        </p:nvSpPr>
        <p:spPr>
          <a:xfrm>
            <a:off x="7333488" y="5285232"/>
            <a:ext cx="4401007" cy="932688"/>
          </a:xfrm>
          <a:prstGeom prst="roundRect">
            <a:avLst>
              <a:gd name="adj" fmla="val 5882"/>
            </a:avLst>
          </a:prstGeom>
          <a:solidFill>
            <a:srgbClr val="EEF4FB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7498080" y="535838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job — every step can stop the run</a:t>
            </a:r>
            <a:endParaRPr lang="en-US" sz="950" dirty="0"/>
          </a:p>
        </p:txBody>
      </p:sp>
      <p:sp>
        <p:nvSpPr>
          <p:cNvPr id="87" name="Text 84"/>
          <p:cNvSpPr txBox="1"/>
          <p:nvPr/>
        </p:nvSpPr>
        <p:spPr>
          <a:xfrm>
            <a:off x="7498080" y="55778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→ robots audit → collect → rebuild → report</a:t>
            </a:r>
            <a:endParaRPr lang="en-US" sz="1000" dirty="0"/>
          </a:p>
        </p:txBody>
      </p:sp>
      <p:sp>
        <p:nvSpPr>
          <p:cNvPr id="88" name="Text 85"/>
          <p:cNvSpPr txBox="1"/>
          <p:nvPr/>
        </p:nvSpPr>
        <p:spPr>
          <a:xfrm>
            <a:off x="7498080" y="58521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failing test, a newly disallowed source, an empty pass or an unpublishable point each exits non-zero — the report still runs.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pix-airfare-index/presentation/assets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0384" y="109728"/>
            <a:ext cx="1874520" cy="88513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9184" y="182880"/>
            <a:ext cx="1298448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6BA8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9184" y="18288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&lt;Team Name&gt;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783080" y="237744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3459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298448"/>
            <a:ext cx="11277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the feasibility of the idea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1645920"/>
            <a:ext cx="11277295" cy="1188720"/>
          </a:xfrm>
          <a:prstGeom prst="roundRect">
            <a:avLst>
              <a:gd name="adj" fmla="val 4615"/>
            </a:avLst>
          </a:prstGeom>
          <a:solidFill>
            <a:srgbClr val="EEF4FB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3504" y="1773936"/>
            <a:ext cx="237744" cy="23774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3504" y="17739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1764792"/>
            <a:ext cx="23529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built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603504" y="2066544"/>
            <a:ext cx="26455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runs end to end today: collection, index engine, database, dashboard and API.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431972" y="1773936"/>
            <a:ext cx="237744" cy="23774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1972" y="17739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3742868" y="1764792"/>
            <a:ext cx="23529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to run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3431972" y="2066544"/>
            <a:ext cx="26455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nightly GitHub Actions job plus a read-only Vercel site on managed Postgres — free tiers.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260440" y="1773936"/>
            <a:ext cx="237744" cy="23774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60440" y="17739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571336" y="1764792"/>
            <a:ext cx="23529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maths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6260440" y="2066544"/>
            <a:ext cx="26455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tests, index paths worked out by hand; 0.05% endpoint error against a known synthetic truth.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9088907" y="1773936"/>
            <a:ext cx="237744" cy="23774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088907" y="17739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9399803" y="1764792"/>
            <a:ext cx="23529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9088907" y="2066544"/>
            <a:ext cx="26455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site — or a partner data feed — drops in as one adapter file; the index engine is untouched.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2980944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challenges and risks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6355080" y="2980944"/>
            <a:ext cx="5379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for overcoming these challenges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457200" y="3310128"/>
            <a:ext cx="566928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C9C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355080" y="3310128"/>
            <a:ext cx="5379415" cy="694944"/>
          </a:xfrm>
          <a:prstGeom prst="roundRect">
            <a:avLst>
              <a:gd name="adj" fmla="val 7895"/>
            </a:avLst>
          </a:prstGeom>
          <a:solidFill>
            <a:srgbClr val="EEF4FB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85216" y="336499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is sparse and uneven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585216" y="3575304"/>
            <a:ext cx="5394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of 9 audited sites allow the fare paths an index needs. IndiGo, SpiceJet and Cleartrip disallow them; Akasa and MakeMyTrip are unreadable, so we fail closed.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6483096" y="3383280"/>
            <a:ext cx="51233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is part of the cell and weights renormalise over matched cells, so a silent source costs coverage, never a fake price move. The real fix is data access, not better scraping: a partner feed, GDS data or reporting under the Collection of Statistics Act arrives as one more adapter.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57200" y="4087368"/>
            <a:ext cx="566928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C9C9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355080" y="4087368"/>
            <a:ext cx="5379415" cy="694944"/>
          </a:xfrm>
          <a:prstGeom prst="roundRect">
            <a:avLst>
              <a:gd name="adj" fmla="val 7895"/>
            </a:avLst>
          </a:prstGeom>
          <a:solidFill>
            <a:srgbClr val="EEF4FB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5216" y="414223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Non-response can masquerade as inflation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585216" y="4352544"/>
            <a:ext cx="5394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already did: 28–30 Aug 2026, two sources returned nothing, imputation hit 84.9%, and the index drifted +8.2% in three days while the build stayed green and the site stayed frozen.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6483096" y="4160520"/>
            <a:ext cx="51233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hierarchy imputes from the cell's own stratum (class → route → all-items); quality flags warn at 35% and fail at 60%; the rebuild now exits 4 rather than publishing a fail-quality point, naming the coverage, the bad days and which sources went silent.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57200" y="4864608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6C9C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355080" y="4864608"/>
            <a:ext cx="5379415" cy="566928"/>
          </a:xfrm>
          <a:prstGeom prst="roundRect">
            <a:avLst>
              <a:gd name="adj" fmla="val 9677"/>
            </a:avLst>
          </a:prstGeom>
          <a:solidFill>
            <a:srgbClr val="EEF4FB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85216" y="4919472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slow robots.txt read cost a whole source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585216" y="5129784"/>
            <a:ext cx="5394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timeout poisoned the cache for an hour, turning all 75 of that source's requests into non-responses.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6483096" y="4937760"/>
            <a:ext cx="512338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now separates a refusal from a network failure: an HTTP status is the operator answering — one attempt, cached an hour; a timeout is the network — three attempts, cached 120 seconds.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457200" y="5513832"/>
            <a:ext cx="566928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C9C9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355080" y="5513832"/>
            <a:ext cx="5379415" cy="694944"/>
          </a:xfrm>
          <a:prstGeom prst="roundRect">
            <a:avLst>
              <a:gd name="adj" fmla="val 7895"/>
            </a:avLst>
          </a:prstGeom>
          <a:solidFill>
            <a:srgbClr val="EEF4FB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85216" y="5568696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are placeholders, not statistics</a:t>
            </a:r>
            <a:endParaRPr lang="en-US" sz="1050" dirty="0"/>
          </a:p>
        </p:txBody>
      </p:sp>
      <p:sp>
        <p:nvSpPr>
          <p:cNvPr id="47" name="Text 44"/>
          <p:cNvSpPr txBox="1"/>
          <p:nvPr/>
        </p:nvSpPr>
        <p:spPr>
          <a:xfrm>
            <a:off x="585216" y="5779008"/>
            <a:ext cx="5394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weights are shaped like DGCA figures but are not them, and O-D and booking-lead shares are combined assuming independence.</a:t>
            </a:r>
            <a:endParaRPr lang="en-US" sz="900" dirty="0"/>
          </a:p>
        </p:txBody>
      </p:sp>
      <p:sp>
        <p:nvSpPr>
          <p:cNvPr id="48" name="Text 45"/>
          <p:cNvSpPr txBox="1"/>
          <p:nvPr/>
        </p:nvSpPr>
        <p:spPr>
          <a:xfrm>
            <a:off x="6483096" y="5586984"/>
            <a:ext cx="51233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in basket.yaml, METHODOLOGY.md and the README's honest-status section; replace with DGCA monthly O-D traffic and GDS booking-lead data, on an annual basket review, before anything is published as a statistic.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pix-airfare-index/presentation/assets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0384" y="109728"/>
            <a:ext cx="1874520" cy="88513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9184" y="182880"/>
            <a:ext cx="1298448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6BA8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9184" y="18288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&lt;Team Name&gt;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783080" y="237744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3459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298448"/>
            <a:ext cx="11277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impact on the target audience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1645920"/>
            <a:ext cx="2138416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5216" y="1773936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59536" y="1737360"/>
            <a:ext cx="162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MoSPI / NSO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585216" y="2084832"/>
            <a:ext cx="18823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compilers of the</a:t>
            </a:r>
            <a:endParaRPr lang="en-US" sz="9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&amp; Communication</a:t>
            </a:r>
            <a:endParaRPr lang="en-US" sz="9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sub-group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41920" y="1645920"/>
            <a:ext cx="2138416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869936" y="1773936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144256" y="1737360"/>
            <a:ext cx="162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&amp; analysts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2869936" y="2084832"/>
            <a:ext cx="18823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fast-moving component</a:t>
            </a:r>
            <a:endParaRPr lang="en-US" sz="9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daily instead of</a:t>
            </a:r>
            <a:endParaRPr lang="en-US" sz="9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month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026640" y="1645920"/>
            <a:ext cx="2138416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154656" y="1773936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28976" y="1737360"/>
            <a:ext cx="162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MoCA / DGCA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5154656" y="2084832"/>
            <a:ext cx="18823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behaviour by route,</a:t>
            </a:r>
            <a:endParaRPr lang="en-US" sz="9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and booking</a:t>
            </a:r>
            <a:endParaRPr lang="en-US" sz="9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311360" y="1645920"/>
            <a:ext cx="2138416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39376" y="1773936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7C6BA8"/>
          </a:solidFill>
          <a:ln w="12700">
            <a:solidFill>
              <a:srgbClr val="7C6BA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13696" y="1737360"/>
            <a:ext cx="162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7439376" y="2084832"/>
            <a:ext cx="18823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append-only archive</a:t>
            </a:r>
            <a:endParaRPr lang="en-US" sz="9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lets anyone replicate</a:t>
            </a:r>
            <a:endParaRPr lang="en-US" sz="9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series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9596079" y="1645920"/>
            <a:ext cx="2138416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724095" y="1773936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998415" y="1737360"/>
            <a:ext cx="162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Travellers &amp; media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9724095" y="2084832"/>
            <a:ext cx="18823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advance-purchase</a:t>
            </a:r>
            <a:endParaRPr lang="en-US" sz="9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curve: how far ahead</a:t>
            </a:r>
            <a:endParaRPr lang="en-US" sz="9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fares actually change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57200" y="3054096"/>
            <a:ext cx="11277295" cy="841248"/>
          </a:xfrm>
          <a:prstGeom prst="roundRect">
            <a:avLst>
              <a:gd name="adj" fmla="val 6522"/>
            </a:avLst>
          </a:prstGeom>
          <a:solidFill>
            <a:srgbClr val="FDF1EA"/>
          </a:solidFill>
          <a:ln w="9525">
            <a:solidFill>
              <a:srgbClr val="F0C9B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21792" y="3145536"/>
            <a:ext cx="270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65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621792" y="3438144"/>
            <a:ext cx="263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monthly observation of the air-fare item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3418256" y="3145536"/>
            <a:ext cx="270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65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point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3418256" y="3438144"/>
            <a:ext cx="263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coverage, imputation share and a quality flag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6214720" y="3145536"/>
            <a:ext cx="270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65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6214720" y="3438144"/>
            <a:ext cx="263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controls circumvented — so the number is admissible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9011183" y="3145536"/>
            <a:ext cx="270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65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</a:t>
            </a:r>
            <a:endParaRPr lang="en-US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9011183" y="3438144"/>
            <a:ext cx="263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index recomputes from the raw quote archive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457200" y="4041648"/>
            <a:ext cx="11277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the solution (social, economic, environmental, etc.)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457200" y="4425696"/>
            <a:ext cx="3649370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03504" y="4498848"/>
            <a:ext cx="33567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603504" y="4754880"/>
            <a:ext cx="335676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earlier, higher-frequency signal on transport inflation, where the current one lags by weeks.</a:t>
            </a:r>
            <a:endParaRPr lang="en-US" sz="95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fare and tax are kept per quote, so an ex-tax variant can sit beside the headline — separating a GST change from a genuine fare move.</a:t>
            </a:r>
            <a:endParaRPr lang="en-US" sz="95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collection removes recurring manual price-collection effort for this item.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271162" y="4425696"/>
            <a:ext cx="3649370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417466" y="4498848"/>
            <a:ext cx="33567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950" dirty="0"/>
          </a:p>
        </p:txBody>
      </p:sp>
      <p:sp>
        <p:nvSpPr>
          <p:cNvPr id="45" name="Text 42"/>
          <p:cNvSpPr txBox="1"/>
          <p:nvPr/>
        </p:nvSpPr>
        <p:spPr>
          <a:xfrm>
            <a:off x="4417466" y="4754880"/>
            <a:ext cx="335676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methodology and a public compliance page: which sites were asked, what they answered, and why.</a:t>
            </a:r>
            <a:endParaRPr lang="en-US" sz="95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can see the advance-purchase curve and the route × window fare matrix rather than guessing when to book.</a:t>
            </a:r>
            <a:endParaRPr lang="en-US" sz="95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series built on simulated data is banner-flagged, with no switch to turn the warning off.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8085125" y="4425696"/>
            <a:ext cx="3649370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8231429" y="4498848"/>
            <a:ext cx="33567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ENVIRONMENTAL</a:t>
            </a:r>
            <a:endParaRPr lang="en-US" sz="950" dirty="0"/>
          </a:p>
        </p:txBody>
      </p:sp>
      <p:sp>
        <p:nvSpPr>
          <p:cNvPr id="48" name="Text 45"/>
          <p:cNvSpPr txBox="1"/>
          <p:nvPr/>
        </p:nvSpPr>
        <p:spPr>
          <a:xfrm>
            <a:off x="8231429" y="4754880"/>
            <a:ext cx="335676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produced without defeating any site's access controls — defensible in a way scraped-by-evasion data is not.</a:t>
            </a:r>
            <a:endParaRPr lang="en-US" sz="95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trail, the collection log and the raw archive make independent replication possible.</a:t>
            </a:r>
            <a:endParaRPr lang="en-US" sz="950" dirty="0"/>
          </a:p>
          <a:p>
            <a:pPr marL="342900" indent="-342900">
              <a:lnSpc>
                <a:spcPct val="9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nightly job and a read-only site: a negligible compute footprint and no field travel to collect prices.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pix-airfare-index/presentation/assets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0384" y="109728"/>
            <a:ext cx="1874520" cy="88513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9184" y="182880"/>
            <a:ext cx="1298448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6BA8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9184" y="18288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&lt;Team Name&gt;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783080" y="237744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AND REFERENCES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3459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298448"/>
            <a:ext cx="11277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/ Links of the reference and research work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1645920"/>
            <a:ext cx="4846320" cy="4535424"/>
          </a:xfrm>
          <a:prstGeom prst="roundRect">
            <a:avLst>
              <a:gd name="adj" fmla="val 1210"/>
            </a:avLst>
          </a:prstGeom>
          <a:solidFill>
            <a:srgbClr val="EEF4FB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175564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ARTEFACTS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" y="2075688"/>
            <a:ext cx="219456" cy="21945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20756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50976" y="2066544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code, docs and issue tracker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50976" y="2276856"/>
            <a:ext cx="4169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8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github.com/Prasun-Acharjee/apix-airfare-index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640080" y="2752344"/>
            <a:ext cx="219456" cy="21945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27523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50976" y="2743200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METHODOLOGY.md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50976" y="2953512"/>
            <a:ext cx="4169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8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formal spec: price concept, the cell, the geometric mean, chaining, the imputation hierarchy and the quality flags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640080" y="3429000"/>
            <a:ext cx="219456" cy="21945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" y="34290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950976" y="3419856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DEPLOY.md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950976" y="3630168"/>
            <a:ext cx="4169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8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Neon and self-hosted Docker deployment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640080" y="4105656"/>
            <a:ext cx="219456" cy="21945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0080" y="41056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950976" y="4096512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pages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950976" y="4306824"/>
            <a:ext cx="4169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8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index chart and route × window matrix · /compliance robots audit and collection log · /methodology</a:t>
            </a:r>
            <a:endParaRPr lang="en-US" sz="880" dirty="0"/>
          </a:p>
        </p:txBody>
      </p:sp>
      <p:sp>
        <p:nvSpPr>
          <p:cNvPr id="28" name="Shape 25"/>
          <p:cNvSpPr/>
          <p:nvPr/>
        </p:nvSpPr>
        <p:spPr>
          <a:xfrm>
            <a:off x="640080" y="4782312"/>
            <a:ext cx="219456" cy="21945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0080" y="47823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0976" y="4773168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50976" y="4983480"/>
            <a:ext cx="4169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8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/api/index/{daily|weekly|monthly} · /api/inflation · /api/routes · /api/compliance · /api/collection-log</a:t>
            </a:r>
            <a:endParaRPr lang="en-US" sz="880" dirty="0"/>
          </a:p>
        </p:txBody>
      </p:sp>
      <p:sp>
        <p:nvSpPr>
          <p:cNvPr id="32" name="Shape 29"/>
          <p:cNvSpPr/>
          <p:nvPr/>
        </p:nvSpPr>
        <p:spPr>
          <a:xfrm>
            <a:off x="640080" y="5458968"/>
            <a:ext cx="219456" cy="21945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0080" y="54589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950976" y="5449824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 — 74 tests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950976" y="5660136"/>
            <a:ext cx="4169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8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test_stdlib_parser_would_have_been_wrong and test_codebase_contains_no_evasion_machinery, which pin the two claims this slide deck makes</a:t>
            </a:r>
            <a:endParaRPr lang="en-US" sz="880" dirty="0"/>
          </a:p>
        </p:txBody>
      </p:sp>
      <p:sp>
        <p:nvSpPr>
          <p:cNvPr id="36" name="Shape 33"/>
          <p:cNvSpPr/>
          <p:nvPr/>
        </p:nvSpPr>
        <p:spPr>
          <a:xfrm>
            <a:off x="5614416" y="1645920"/>
            <a:ext cx="6120079" cy="4535424"/>
          </a:xfrm>
          <a:prstGeom prst="roundRect">
            <a:avLst>
              <a:gd name="adj" fmla="val 1210"/>
            </a:avLst>
          </a:prstGeom>
          <a:solidFill>
            <a:srgbClr val="FFFFFF"/>
          </a:solidFill>
          <a:ln w="9525">
            <a:solidFill>
              <a:srgbClr val="C8D6E5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797296" y="1755648"/>
            <a:ext cx="57543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STANDARDS, SOURCES AND PRIOR ART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797296" y="2057400"/>
            <a:ext cx="219456" cy="219456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797296" y="20574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6108192" y="2048256"/>
            <a:ext cx="54434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9309 — Robots Exclusion Protocol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6108192" y="2258568"/>
            <a:ext cx="54434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8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rfc-editor.org/rfc/rfc9309.html — implemented in apix/compliance/rfc9309.py, because Python's urllib.robotparser handles neither wildcards nor full-URL directives and fails permissive</a:t>
            </a:r>
            <a:endParaRPr lang="en-US" sz="880" dirty="0"/>
          </a:p>
        </p:txBody>
      </p:sp>
      <p:sp>
        <p:nvSpPr>
          <p:cNvPr id="42" name="Shape 39"/>
          <p:cNvSpPr/>
          <p:nvPr/>
        </p:nvSpPr>
        <p:spPr>
          <a:xfrm>
            <a:off x="5797296" y="2633472"/>
            <a:ext cx="219456" cy="219456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797296" y="26334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6108192" y="2624328"/>
            <a:ext cx="54434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Manual: Concepts and Methods — ILO, IMF, OECD, UNECE, Eurostat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6108192" y="2834640"/>
            <a:ext cx="54434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8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chained indices, elementary aggregates and the imputation of missing prices</a:t>
            </a:r>
            <a:endParaRPr lang="en-US" sz="880" dirty="0"/>
          </a:p>
        </p:txBody>
      </p:sp>
      <p:sp>
        <p:nvSpPr>
          <p:cNvPr id="46" name="Shape 43"/>
          <p:cNvSpPr/>
          <p:nvPr/>
        </p:nvSpPr>
        <p:spPr>
          <a:xfrm>
            <a:off x="5797296" y="3209544"/>
            <a:ext cx="219456" cy="219456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797296" y="32095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6108192" y="3200400"/>
            <a:ext cx="54434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Eurostat and ONS practice on web-scraped prices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6108192" y="3410712"/>
            <a:ext cx="54434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8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of airfares in the HICP/CPI and the use of scraped data in official statistics</a:t>
            </a:r>
            <a:endParaRPr lang="en-US" sz="880" dirty="0"/>
          </a:p>
        </p:txBody>
      </p:sp>
      <p:sp>
        <p:nvSpPr>
          <p:cNvPr id="50" name="Shape 47"/>
          <p:cNvSpPr/>
          <p:nvPr/>
        </p:nvSpPr>
        <p:spPr>
          <a:xfrm>
            <a:off x="5797296" y="3785616"/>
            <a:ext cx="219456" cy="219456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5797296" y="37856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108192" y="3776472"/>
            <a:ext cx="54434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MoSPI — Consumer Price Index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6108192" y="3986784"/>
            <a:ext cx="54434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8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Transport &amp; Communication sub-group this index is scoped to</a:t>
            </a:r>
            <a:endParaRPr lang="en-US" sz="880" dirty="0"/>
          </a:p>
        </p:txBody>
      </p:sp>
      <p:sp>
        <p:nvSpPr>
          <p:cNvPr id="54" name="Shape 51"/>
          <p:cNvSpPr/>
          <p:nvPr/>
        </p:nvSpPr>
        <p:spPr>
          <a:xfrm>
            <a:off x="5797296" y="4361688"/>
            <a:ext cx="219456" cy="219456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5797296" y="43616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6108192" y="4352544"/>
            <a:ext cx="54434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 — Monthly Traffic Statistics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108192" y="4562856"/>
            <a:ext cx="54434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8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origin–destination passenger traffic and carrier market share, the intended replacement for the placeholder basket weights</a:t>
            </a:r>
            <a:endParaRPr lang="en-US" sz="880" dirty="0"/>
          </a:p>
        </p:txBody>
      </p:sp>
      <p:sp>
        <p:nvSpPr>
          <p:cNvPr id="58" name="Shape 55"/>
          <p:cNvSpPr/>
          <p:nvPr/>
        </p:nvSpPr>
        <p:spPr>
          <a:xfrm>
            <a:off x="5797296" y="4937760"/>
            <a:ext cx="219456" cy="219456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5797296" y="49377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0" name="Text 57"/>
          <p:cNvSpPr txBox="1"/>
          <p:nvPr/>
        </p:nvSpPr>
        <p:spPr>
          <a:xfrm>
            <a:off x="6108192" y="4928616"/>
            <a:ext cx="54434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of Statistics Act, 2008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6108192" y="5138928"/>
            <a:ext cx="54434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8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statutory route to airline data access that removes the coverage problem entirely</a:t>
            </a:r>
            <a:endParaRPr lang="en-US" sz="880" dirty="0"/>
          </a:p>
        </p:txBody>
      </p:sp>
      <p:sp>
        <p:nvSpPr>
          <p:cNvPr id="62" name="Shape 59"/>
          <p:cNvSpPr/>
          <p:nvPr/>
        </p:nvSpPr>
        <p:spPr>
          <a:xfrm>
            <a:off x="5797296" y="5513832"/>
            <a:ext cx="219456" cy="219456"/>
          </a:xfrm>
          <a:prstGeom prst="ellipse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5797296" y="5513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4" name="Text 61"/>
          <p:cNvSpPr txBox="1"/>
          <p:nvPr/>
        </p:nvSpPr>
        <p:spPr>
          <a:xfrm>
            <a:off x="6108192" y="5504688"/>
            <a:ext cx="54434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· Next.js · PostgreSQL documentation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108192" y="5715000"/>
            <a:ext cx="54434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8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rendering, the App Router read path and the schema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 2026 - APIx Real-time Airfare Price Index</dc:title>
  <dc:subject>PptxGenJS Presentation</dc:subject>
  <dc:creator>APIx</dc:creator>
  <cp:lastModifiedBy>APIx</cp:lastModifiedBy>
  <cp:revision>1</cp:revision>
  <dcterms:created xsi:type="dcterms:W3CDTF">2026-09-01T18:36:28Z</dcterms:created>
  <dcterms:modified xsi:type="dcterms:W3CDTF">2026-09-01T18:36:28Z</dcterms:modified>
</cp:coreProperties>
</file>